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3"/>
    <p:sldId id="264" r:id="rId4"/>
    <p:sldId id="267" r:id="rId5"/>
    <p:sldId id="268" r:id="rId6"/>
    <p:sldId id="265" r:id="rId7"/>
    <p:sldId id="270" r:id="rId8"/>
    <p:sldId id="271" r:id="rId9"/>
    <p:sldId id="266" r:id="rId10"/>
    <p:sldId id="274" r:id="rId11"/>
    <p:sldId id="276" r:id="rId12"/>
    <p:sldId id="277" r:id="rId13"/>
    <p:sldId id="275" r:id="rId14"/>
    <p:sldId id="278" r:id="rId15"/>
    <p:sldId id="279" r:id="rId16"/>
    <p:sldId id="280" r:id="rId17"/>
    <p:sldId id="281" r:id="rId18"/>
    <p:sldId id="287" r:id="rId19"/>
    <p:sldId id="282" r:id="rId20"/>
    <p:sldId id="288" r:id="rId21"/>
    <p:sldId id="283" r:id="rId22"/>
    <p:sldId id="289" r:id="rId23"/>
    <p:sldId id="284" r:id="rId24"/>
    <p:sldId id="290" r:id="rId25"/>
    <p:sldId id="291" r:id="rId26"/>
    <p:sldId id="292" r:id="rId27"/>
    <p:sldId id="293" r:id="rId28"/>
    <p:sldId id="294" r:id="rId29"/>
    <p:sldId id="295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285" r:id="rId38"/>
    <p:sldId id="26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723"/>
    <a:srgbClr val="00B05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91" y="91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886CC-ACE5-4CCD-9EE3-C64CC63F7953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5AF75-E540-4B1B-B92B-013A4ABC1E7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A8614A29-0964-40D8-9113-208C344FF8BB}" type="datetime1">
              <a:rPr lang="en-IN" smtClean="0"/>
            </a:fld>
            <a:endParaRPr lang="en-IN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86A1208-3AE5-4414-AE6A-A50A00E117CA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C3BDEEC-3A8C-49A2-9501-72A52DE979B7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E99CC4-A631-445B-A21F-D77C06AD11B9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4551570-DFBB-4F39-BA23-C9CDA13F4D27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3EB298B-60E1-4ECE-ADE9-77D177BB27A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72DE055-98D6-4F83-96C0-401B3CC82A6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D4DF51-747D-40B9-B64B-8BFD0D6BCD4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13F9E7B-E347-4EA6-AB1A-1A13EC9C71D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960AA20-A308-49C3-861A-95A4585AFA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0E7B7C47-57F0-4017-A1DB-DC802EE76872}" type="datetime1">
              <a:rPr lang="en-IN" smtClean="0"/>
            </a:fld>
            <a:endParaRPr lang="en-IN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4175" y="2223770"/>
            <a:ext cx="3320415" cy="676910"/>
          </a:xfrm>
        </p:spPr>
        <p:txBody>
          <a:bodyPr anchor="ctr">
            <a:normAutofit fontScale="90000"/>
          </a:bodyPr>
          <a:lstStyle/>
          <a:p>
            <a:br>
              <a:rPr lang="en-IN" dirty="0"/>
            </a:br>
            <a:b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 panose="020B0602020104020603" pitchFamily="34" charset="0"/>
              </a:rPr>
            </a:br>
            <a:endParaRPr lang="en-IN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" y="3624580"/>
            <a:ext cx="4606925" cy="2432050"/>
          </a:xfrm>
          <a:solidFill>
            <a:schemeClr val="accent1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2500" lnSpcReduction="20000"/>
          </a:bodyPr>
          <a:lstStyle/>
          <a:p>
            <a:pPr algn="l"/>
            <a:r>
              <a:rPr lang="en-IN" sz="33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</a:t>
            </a:r>
            <a:endParaRPr lang="en-IN" sz="33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SUJIT BEHERA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NAGA VENKATA VASAVI JAYAVARAPU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 ARCHNA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DARSHAN SINDHE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YAMINI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Team - A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INFOSYS SPRINGBOARD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524000" y="1196313"/>
            <a:ext cx="9144000" cy="90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ElectViz Election Data Visualization for Media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8470232" y="3894166"/>
            <a:ext cx="3397091" cy="1655762"/>
          </a:xfrm>
          <a:prstGeom prst="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Supervised By</a:t>
            </a:r>
            <a:endParaRPr lang="en-IN" sz="20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Prof. NITYASHRI S J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Project Guide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INFOSYS SPRINGBOARD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695" y="197485"/>
            <a:ext cx="3430905" cy="6864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064000" y="22244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Infosys Springboard 6.0</a:t>
            </a:r>
            <a:endParaRPr lang="en-US" altLang="en-US" sz="2400" b="1"/>
          </a:p>
        </p:txBody>
      </p:sp>
      <p:pic>
        <p:nvPicPr>
          <p:cNvPr id="7" name="Picture 6" descr="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" y="155575"/>
            <a:ext cx="1743075" cy="921385"/>
          </a:xfrm>
          <a:prstGeom prst="rect">
            <a:avLst/>
          </a:prstGeom>
        </p:spPr>
      </p:pic>
      <p:pic>
        <p:nvPicPr>
          <p:cNvPr id="13" name="Picture 12" descr="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" y="282575"/>
            <a:ext cx="1743075" cy="92138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OVER VIEW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8620" y="1253490"/>
            <a:ext cx="11374120" cy="4851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400" dirty="0"/>
              <a:t> </a:t>
            </a:r>
            <a:r>
              <a:rPr lang="en-IN" altLang="en-US" sz="2000" dirty="0"/>
              <a:t>It Focus on </a:t>
            </a:r>
            <a:r>
              <a:rPr lang="en-US" altLang="en-US" sz="2000" dirty="0"/>
              <a:t>Transform complex election</a:t>
            </a:r>
            <a:r>
              <a:rPr lang="en-IN" altLang="en-US" sz="2000" dirty="0"/>
              <a:t> </a:t>
            </a:r>
            <a:r>
              <a:rPr lang="en-US" altLang="en-US" sz="2000" dirty="0"/>
              <a:t>data into clear,</a:t>
            </a:r>
            <a:r>
              <a:rPr lang="en-IN" altLang="en-US" sz="2000" dirty="0"/>
              <a:t>  </a:t>
            </a:r>
            <a:r>
              <a:rPr lang="en-US" altLang="en-US" sz="2000" dirty="0">
                <a:sym typeface="+mn-ea"/>
              </a:rPr>
              <a:t>interactive, and easily understandable dashboard</a:t>
            </a:r>
            <a:endParaRPr lang="en-US" altLang="en-US" sz="2000" dirty="0"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000" dirty="0"/>
              <a:t>It Analysis </a:t>
            </a:r>
            <a:r>
              <a:rPr lang="en-US" altLang="en-US" sz="2000" dirty="0"/>
              <a:t>National and regional election</a:t>
            </a:r>
            <a:r>
              <a:rPr lang="en-IN" altLang="en-US" sz="2000" dirty="0"/>
              <a:t> </a:t>
            </a:r>
            <a:r>
              <a:rPr lang="en-US" altLang="en-US" sz="2000" dirty="0"/>
              <a:t>results, voter demographics,</a:t>
            </a:r>
            <a:r>
              <a:rPr lang="en-IN" altLang="en-US" sz="2000" dirty="0"/>
              <a:t> </a:t>
            </a:r>
            <a:r>
              <a:rPr lang="en-US" altLang="en-US" sz="2000" dirty="0"/>
              <a:t>a</a:t>
            </a:r>
            <a:r>
              <a:rPr lang="en-IN" altLang="en-US" sz="2000" dirty="0"/>
              <a:t>nd </a:t>
            </a:r>
            <a:r>
              <a:rPr lang="en-US" altLang="en-US" sz="2000" dirty="0"/>
              <a:t>comprehensive trend</a:t>
            </a:r>
            <a:r>
              <a:rPr lang="en-IN" altLang="en-US" sz="2000" dirty="0"/>
              <a:t> </a:t>
            </a:r>
            <a:r>
              <a:rPr lang="en-US" altLang="en-US" sz="2000" dirty="0"/>
              <a:t>analysis</a:t>
            </a: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000" dirty="0"/>
              <a:t>It </a:t>
            </a:r>
            <a:r>
              <a:rPr lang="en-US" altLang="en-US" sz="2000" dirty="0"/>
              <a:t>Enhance understanding and engagement through interactive and</a:t>
            </a:r>
            <a:r>
              <a:rPr lang="en-IN" altLang="en-US" sz="2000" dirty="0"/>
              <a:t> </a:t>
            </a:r>
            <a:r>
              <a:rPr lang="en-US" altLang="en-US" sz="2000" dirty="0"/>
              <a:t>static</a:t>
            </a:r>
            <a:r>
              <a:rPr lang="en-IN" altLang="en-US" sz="2000" dirty="0"/>
              <a:t> </a:t>
            </a:r>
            <a:r>
              <a:rPr lang="en-US" altLang="en-US" sz="2000" dirty="0"/>
              <a:t>visua</a:t>
            </a:r>
            <a:r>
              <a:rPr lang="en-IN" altLang="en-US" sz="2000" dirty="0"/>
              <a:t>l</a:t>
            </a:r>
            <a:r>
              <a:rPr lang="en-US" altLang="en-US" sz="2000" dirty="0"/>
              <a:t>izations</a:t>
            </a: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 dirty="0"/>
              <a:t>The dashboard enables year-wise, state-wise, party-wise, and candidate-wise analysi</a:t>
            </a:r>
            <a:r>
              <a:rPr lang="en-US" altLang="en-US" sz="2400" dirty="0"/>
              <a:t>s</a:t>
            </a:r>
            <a:endParaRPr lang="en-US" alt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4123055" y="48895"/>
            <a:ext cx="7639685" cy="822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0" y="197485"/>
            <a:ext cx="3302000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DATA SOURCE: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4640" y="1023620"/>
            <a:ext cx="11618595" cy="52762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300" dirty="0"/>
              <a:t>The dataset provides detailed information on election candidates, results, and performance across all Indian states</a:t>
            </a:r>
            <a:endParaRPr lang="en-US" altLang="en-US" sz="2300" dirty="0"/>
          </a:p>
        </p:txBody>
      </p:sp>
      <p:pic>
        <p:nvPicPr>
          <p:cNvPr id="3" name="Picture 2" descr="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2237105"/>
            <a:ext cx="11289665" cy="408114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97485"/>
            <a:ext cx="3302000" cy="686435"/>
          </a:xfrm>
          <a:prstGeom prst="rect">
            <a:avLst/>
          </a:prstGeom>
        </p:spPr>
      </p:pic>
      <p:sp>
        <p:nvSpPr>
          <p:cNvPr id="5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DATA SOURCE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Content Placeholder 2" descr="S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890" y="1253490"/>
            <a:ext cx="11323955" cy="476059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770" y="197485"/>
            <a:ext cx="3211830" cy="686435"/>
          </a:xfrm>
          <a:prstGeom prst="rect">
            <a:avLst/>
          </a:prstGeom>
        </p:spPr>
      </p:pic>
      <p:sp>
        <p:nvSpPr>
          <p:cNvPr id="4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VISUALIZATION:  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8620" y="1015365"/>
            <a:ext cx="11320145" cy="510159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altLang="en-US" dirty="0"/>
              <a:t>             </a:t>
            </a:r>
            <a:endParaRPr lang="en-IN" altLang="en-US" dirty="0"/>
          </a:p>
        </p:txBody>
      </p:sp>
      <p:pic>
        <p:nvPicPr>
          <p:cNvPr id="3" name="Picture 2" descr="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1074420"/>
            <a:ext cx="11402060" cy="510095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415" y="197485"/>
            <a:ext cx="3512185" cy="686435"/>
          </a:xfrm>
          <a:prstGeom prst="rect">
            <a:avLst/>
          </a:prstGeom>
        </p:spPr>
      </p:pic>
      <p:sp>
        <p:nvSpPr>
          <p:cNvPr id="5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DAX MEASUREMENT: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7215" y="1023620"/>
            <a:ext cx="5276850" cy="507174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Seats Won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CALCULATE(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DISTINCTCOUNT('Indian General </a:t>
            </a:r>
            <a:r>
              <a:rPr lang="en-IN" altLang="en-US" sz="1600" dirty="0"/>
              <a:t>   </a:t>
            </a:r>
            <a:r>
              <a:rPr lang="en-US" altLang="en-US" sz="1600" dirty="0"/>
              <a:t>Election'[Constituency]),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'Indian General Election'[Is_Winner] = TRUE()</a:t>
            </a:r>
            <a:r>
              <a:rPr lang="en-IN" altLang="en-US" sz="1600" dirty="0"/>
              <a:t>)</a:t>
            </a:r>
            <a:endParaRPr lang="en-US" altLang="en-US" sz="16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Votes Polled by Year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SUM('Indian General Election'[Total_Votes_Polled]</a:t>
            </a:r>
            <a:r>
              <a:rPr lang="en-IN" altLang="en-US" sz="1600" dirty="0"/>
              <a:t>)</a:t>
            </a:r>
            <a:endParaRPr lang="en-US" altLang="en-US" sz="16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Seats Won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/>
              <a:t>     </a:t>
            </a:r>
            <a:r>
              <a:rPr lang="en-US" altLang="en-US" sz="1600" dirty="0"/>
              <a:t>CALCULATE(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DISTINCTCOUNT('Indian General </a:t>
            </a:r>
            <a:r>
              <a:rPr lang="en-IN" altLang="en-US" sz="1600" dirty="0"/>
              <a:t>       </a:t>
            </a:r>
            <a:r>
              <a:rPr lang="en-US" altLang="en-US" sz="1600" dirty="0"/>
              <a:t>Election'[Constituency]),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'Indian General Election'[Is_Winner] = TRUE()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en-US" sz="1600" dirty="0"/>
          </a:p>
        </p:txBody>
      </p:sp>
      <p:sp>
        <p:nvSpPr>
          <p:cNvPr id="3" name="Text Box 2"/>
          <p:cNvSpPr txBox="1"/>
          <p:nvPr/>
        </p:nvSpPr>
        <p:spPr>
          <a:xfrm>
            <a:off x="5418455" y="1116330"/>
            <a:ext cx="6137910" cy="4889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/>
              <a:t> </a:t>
            </a:r>
            <a:r>
              <a:rPr lang="en-US" altLang="en-US" sz="1600"/>
              <a:t>Total Candidates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DISTINCTCOUNT('Indian General Election'[Candidate Name])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Votes Polled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SUM('Indian General Election'[Total_Votes_Polled]) 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States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DISTINCTCOUNT('Indian General Election'[State Name])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IN" altLang="en-US" sz="1600"/>
              <a:t> </a:t>
            </a:r>
            <a:r>
              <a:rPr lang="en-US" altLang="en-US" sz="1600"/>
              <a:t>Total Constituencies = </a:t>
            </a:r>
            <a:endParaRPr lang="en-US" altLang="en-US" sz="1600"/>
          </a:p>
          <a:p>
            <a:r>
              <a:rPr lang="en-IN" altLang="en-US" sz="1600"/>
              <a:t>      </a:t>
            </a:r>
            <a:r>
              <a:rPr lang="en-US" altLang="en-US" sz="1600"/>
              <a:t>DISTINCTCOUNT('Indian General Election'[Constituency])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Votes Secured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SUM('Indian General Election'[Votes_Secured])</a:t>
            </a:r>
            <a:endParaRPr lang="en-US" altLang="en-US" sz="1600"/>
          </a:p>
          <a:p>
            <a:endParaRPr 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ym typeface="+mn-ea"/>
              </a:rPr>
              <a:t>Candidate Count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>
                <a:sym typeface="+mn-ea"/>
              </a:rPr>
              <a:t>    </a:t>
            </a:r>
            <a:r>
              <a:rPr lang="en-US" altLang="en-US" sz="1600" dirty="0">
                <a:sym typeface="+mn-ea"/>
              </a:rPr>
              <a:t>COUNT('Indian General Election'[Candidate Name])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>
                <a:sym typeface="+mn-ea"/>
              </a:rPr>
              <a:t>     )</a:t>
            </a:r>
            <a:endParaRPr lang="en-US" altLang="en-US" sz="1600" dirty="0"/>
          </a:p>
          <a:p>
            <a:endParaRPr lang="en-US" sz="1600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8235" y="197485"/>
            <a:ext cx="3301365" cy="686435"/>
          </a:xfrm>
          <a:prstGeom prst="rect">
            <a:avLst/>
          </a:prstGeom>
        </p:spPr>
      </p:pic>
      <p:sp>
        <p:nvSpPr>
          <p:cNvPr id="5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VISUALIZATION TOOL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1360" y="1233170"/>
            <a:ext cx="10632440" cy="4646295"/>
          </a:xfrm>
        </p:spPr>
        <p:txBody>
          <a:bodyPr/>
          <a:lstStyle/>
          <a:p>
            <a:pPr>
              <a:buFont typeface="Wingdings" panose="05000000000000000000" charset="0"/>
              <a:buChar char="q"/>
            </a:pPr>
            <a:r>
              <a:rPr lang="en-IN" altLang="en-US" sz="2400" dirty="0"/>
              <a:t>KEY VISUALS :</a:t>
            </a:r>
            <a:endParaRPr lang="en-IN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 dirty="0"/>
              <a:t>      </a:t>
            </a:r>
            <a:r>
              <a:rPr lang="en-IN" altLang="en-US" sz="2400" dirty="0"/>
              <a:t>    </a:t>
            </a:r>
            <a:r>
              <a:rPr lang="en-US" altLang="en-US" sz="2400" dirty="0"/>
              <a:t>Bar Chart – Seats Won by Party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2400" dirty="0"/>
              <a:t>        </a:t>
            </a:r>
            <a:r>
              <a:rPr lang="en-US" altLang="en-US" sz="2400" dirty="0"/>
              <a:t>Column Chart – </a:t>
            </a:r>
            <a:r>
              <a:rPr lang="en-IN" altLang="en-US" sz="2400" dirty="0"/>
              <a:t>Seat own by state name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  </a:t>
            </a:r>
            <a:r>
              <a:rPr lang="en-US" altLang="en-US" sz="2400" dirty="0"/>
              <a:t>Donut Chart – </a:t>
            </a:r>
            <a:r>
              <a:rPr lang="en-IN" altLang="en-US" sz="2400" dirty="0"/>
              <a:t>winner vs non winner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   Line chart - year wise votting trend</a:t>
            </a:r>
            <a:endParaRPr lang="en-US" altLang="en-US" sz="2400" dirty="0"/>
          </a:p>
          <a:p>
            <a:pPr>
              <a:buFont typeface="Wingdings" panose="05000000000000000000" charset="0"/>
              <a:buChar char="q"/>
            </a:pPr>
            <a:r>
              <a:rPr lang="en-US" altLang="en-US" sz="2400" dirty="0"/>
              <a:t>KPI card</a:t>
            </a:r>
            <a:r>
              <a:rPr lang="en-IN" altLang="en-US" sz="2400" dirty="0"/>
              <a:t>:</a:t>
            </a:r>
            <a:endParaRPr lang="en-IN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 </a:t>
            </a:r>
            <a:r>
              <a:rPr lang="en-US" altLang="en-US" sz="2400" dirty="0"/>
              <a:t>Total vote polled - </a:t>
            </a:r>
            <a:r>
              <a:rPr lang="en-IN" altLang="en-US" sz="2400" dirty="0"/>
              <a:t>12bn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</a:t>
            </a:r>
            <a:r>
              <a:rPr lang="en-US" altLang="en-US" sz="2400" dirty="0"/>
              <a:t>Total candidates - </a:t>
            </a:r>
            <a:r>
              <a:rPr lang="en-IN" altLang="en-US" sz="2400" dirty="0"/>
              <a:t>10k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</a:t>
            </a:r>
            <a:r>
              <a:rPr lang="en-US" altLang="en-US" sz="2400" dirty="0"/>
              <a:t>Total vote secured</a:t>
            </a:r>
            <a:r>
              <a:rPr lang="en-IN" altLang="en-US" sz="2400" dirty="0"/>
              <a:t> 729</a:t>
            </a:r>
            <a:r>
              <a:rPr lang="en-US" altLang="en-US" sz="2400" dirty="0"/>
              <a:t>M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</a:t>
            </a:r>
            <a:r>
              <a:rPr lang="en-US" altLang="en-US" sz="2400" dirty="0"/>
              <a:t> Avg </a:t>
            </a:r>
            <a:r>
              <a:rPr lang="en-IN" altLang="en-US" sz="2400" dirty="0"/>
              <a:t>state -36</a:t>
            </a:r>
            <a:endParaRPr lang="en-IN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 dirty="0"/>
              <a:t>      Total constituencies-539</a:t>
            </a:r>
            <a:endParaRPr lang="en-IN" altLang="en-US" sz="2400" dirty="0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9695" y="197485"/>
            <a:ext cx="3049905" cy="686435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STATE WISE ANALYSIS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Content Placeholder 12" descr="P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2605" y="1162050"/>
            <a:ext cx="11059160" cy="4964430"/>
          </a:xfrm>
          <a:prstGeom prst="rect">
            <a:avLst/>
          </a:prstGeom>
        </p:spPr>
      </p:pic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635" y="197485"/>
            <a:ext cx="3148965" cy="686435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</a:rPr>
              <a:t>DAX MEASUREMENT</a:t>
            </a:r>
            <a:endParaRPr lang="en-IN" altLang="en-US">
              <a:solidFill>
                <a:srgbClr val="92D05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1600"/>
              <a:t> </a:t>
            </a:r>
            <a:r>
              <a:rPr lang="en-US" altLang="en-US" sz="2000"/>
              <a:t>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Votes Secured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Election'[Pct_of_Valid])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17837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1295" y="197485"/>
            <a:ext cx="294830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9194800" y="636397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235" y="1632585"/>
            <a:ext cx="7555230" cy="4526280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IN" altLang="en-US" sz="2400"/>
              <a:t>  </a:t>
            </a:r>
            <a:r>
              <a:rPr lang="en-US" altLang="en-US" sz="2400"/>
              <a:t>Key Visuals:</a:t>
            </a:r>
            <a:endParaRPr lang="en-US" altLang="en-US" sz="24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800"/>
              <a:t> </a:t>
            </a:r>
            <a:r>
              <a:rPr lang="en-US" altLang="en-US" sz="2000"/>
              <a:t>Bar Chart –</a:t>
            </a:r>
            <a:r>
              <a:rPr lang="en-IN" altLang="en-US" sz="2000"/>
              <a:t> avg winning margin by state name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Column Chart – </a:t>
            </a:r>
            <a:r>
              <a:rPr lang="en-IN" altLang="en-US" sz="2000"/>
              <a:t>State wise vote share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Donut Chart – Party Seat Share %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Map – Seats won by party across states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/>
              <a:t> </a:t>
            </a:r>
            <a:r>
              <a:rPr lang="en-US" altLang="en-US" sz="2000"/>
              <a:t>Summary Table – </a:t>
            </a:r>
            <a:r>
              <a:rPr lang="en-IN" altLang="en-US" sz="2000"/>
              <a:t>state name, state vote share%, seat   own , avg winning margin</a:t>
            </a:r>
            <a:endParaRPr lang="en-IN" altLang="en-US" sz="1800"/>
          </a:p>
          <a:p>
            <a:pPr marL="0" indent="0">
              <a:buNone/>
            </a:pPr>
            <a:endParaRPr lang="en-I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22091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Box 5"/>
          <p:cNvSpPr txBox="1"/>
          <p:nvPr/>
        </p:nvSpPr>
        <p:spPr>
          <a:xfrm>
            <a:off x="7792085" y="1764030"/>
            <a:ext cx="3884295" cy="381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kpi cards: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000" dirty="0">
                <a:sym typeface="+mn-ea"/>
              </a:rPr>
              <a:t>   </a:t>
            </a:r>
            <a:r>
              <a:rPr lang="en-US" altLang="en-US" sz="2000" dirty="0">
                <a:sym typeface="+mn-ea"/>
              </a:rPr>
              <a:t> Total vote secured</a:t>
            </a:r>
            <a:r>
              <a:rPr lang="en-IN" altLang="en-US" sz="2000" dirty="0">
                <a:sym typeface="+mn-ea"/>
              </a:rPr>
              <a:t> 79</a:t>
            </a:r>
            <a:r>
              <a:rPr lang="en-US" altLang="en-US" sz="2000" dirty="0">
                <a:sym typeface="+mn-ea"/>
              </a:rPr>
              <a:t>M</a:t>
            </a:r>
            <a:endParaRPr lang="en-US" altLang="en-US" sz="2000" dirty="0"/>
          </a:p>
          <a:p>
            <a:pPr indent="0">
              <a:buFont typeface="Wingdings" panose="05000000000000000000" charset="0"/>
              <a:buNone/>
            </a:pPr>
            <a:r>
              <a:rPr lang="en-US" altLang="en-US" sz="2000" dirty="0">
                <a:sym typeface="+mn-ea"/>
              </a:rPr>
              <a:t> </a:t>
            </a:r>
            <a:r>
              <a:rPr lang="en-IN" altLang="en-US" sz="2000" dirty="0">
                <a:sym typeface="+mn-ea"/>
              </a:rPr>
              <a:t>state  own -388</a:t>
            </a:r>
            <a:endParaRPr lang="en-IN" altLang="en-US" sz="2000" dirty="0"/>
          </a:p>
          <a:p>
            <a:pPr indent="0">
              <a:buFont typeface="Wingdings" panose="05000000000000000000" charset="0"/>
              <a:buNone/>
            </a:pPr>
            <a:r>
              <a:rPr lang="en-IN" altLang="en-US" sz="2000"/>
              <a:t>     avg winning margin-126.19k</a:t>
            </a:r>
            <a:endParaRPr lang="en-IN" altLang="en-US" sz="2000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525" y="401320"/>
            <a:ext cx="288607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9347200" y="645858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8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92785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PARTY PERFORMANCE :</a:t>
            </a:r>
            <a:endParaRPr lang="en-IN" altLang="en-US"/>
          </a:p>
        </p:txBody>
      </p:sp>
      <p:pic>
        <p:nvPicPr>
          <p:cNvPr id="6" name="Content Placeholder 5" descr="P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230" y="1508760"/>
            <a:ext cx="11256645" cy="457327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17837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855075" y="623951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5" y="163830"/>
            <a:ext cx="2924175" cy="686435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6280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DISTINCTCOUNT('Indian General Election'[Constituency])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Vote Share =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Total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28378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987155" y="62452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6520" y="88265"/>
            <a:ext cx="3053080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2720"/>
            <a:ext cx="10972800" cy="114300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3028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5"/>
          <p:cNvSpPr/>
          <p:nvPr>
            <p:ph idx="1"/>
          </p:nvPr>
        </p:nvSpPr>
        <p:spPr>
          <a:xfrm>
            <a:off x="491490" y="1691005"/>
            <a:ext cx="10972800" cy="444690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DISTINCTCOUNT('Indian General Election'[Constituency])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DIVIDE(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[Party Total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SUM('Indian General Election'[Votes_Secured]),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ALL('Indian General Election'[Party])</a:t>
            </a:r>
            <a:r>
              <a:rPr lang="en-IN" altLang="en-US" sz="2000"/>
              <a:t>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420370" y="62293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lide Number Placeholder 4"/>
          <p:cNvSpPr>
            <a:spLocks noGrp="1"/>
          </p:cNvSpPr>
          <p:nvPr/>
        </p:nvSpPr>
        <p:spPr>
          <a:xfrm>
            <a:off x="8879840" y="622935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0" y="401320"/>
            <a:ext cx="2813050" cy="686435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Key Visuals</a:t>
            </a:r>
            <a:r>
              <a:rPr lang="en-IN" altLang="en-US" sz="2000" b="1"/>
              <a:t>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</a:t>
            </a:r>
            <a:r>
              <a:rPr lang="en-US" altLang="en-US" sz="2000"/>
              <a:t>Bar Chart – Seats Won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</a:t>
            </a:r>
            <a:r>
              <a:rPr lang="en-US" altLang="en-US" sz="2000"/>
              <a:t>Column Chart – Total Votes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Donut Chart – Party </a:t>
            </a:r>
            <a:r>
              <a:rPr lang="en-IN" altLang="en-US" sz="2000"/>
              <a:t>vote share distribution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Summary Table – </a:t>
            </a:r>
            <a:r>
              <a:rPr lang="en-IN" altLang="en-US" sz="2000"/>
              <a:t>Party,party vote share%,party vote share</a:t>
            </a:r>
            <a:endParaRPr lang="en-IN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seat own</a:t>
            </a:r>
            <a:r>
              <a:rPr lang="en-US" altLang="en-US" sz="2000"/>
              <a:t> - 3</a:t>
            </a:r>
            <a:r>
              <a:rPr lang="en-IN" altLang="en-US" sz="2000"/>
              <a:t>88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Total</a:t>
            </a:r>
            <a:r>
              <a:rPr lang="en-IN" altLang="en-US" sz="2000"/>
              <a:t> seat</a:t>
            </a:r>
            <a:r>
              <a:rPr lang="en-US" altLang="en-US" sz="2000"/>
              <a:t>  - </a:t>
            </a:r>
            <a:r>
              <a:rPr lang="en-IN" altLang="en-US" sz="2000"/>
              <a:t>539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party vote share-729 M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Avg winning margin 1</a:t>
            </a:r>
            <a:r>
              <a:rPr lang="en-IN" altLang="en-US" sz="2000"/>
              <a:t>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22409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625840" y="63087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5780" y="151130"/>
            <a:ext cx="2511425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06172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CANDIDATES PERFORMANCE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92710" y="134918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P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1744345"/>
            <a:ext cx="11416030" cy="4195445"/>
          </a:xfrm>
          <a:prstGeom prst="rect">
            <a:avLst/>
          </a:prstGeom>
        </p:spPr>
      </p:pic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385" y="144145"/>
            <a:ext cx="3061970" cy="686435"/>
          </a:xfrm>
          <a:prstGeom prst="rect">
            <a:avLst/>
          </a:prstGeom>
        </p:spPr>
      </p:pic>
      <p:sp>
        <p:nvSpPr>
          <p:cNvPr id="12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lide Number Placeholder 4"/>
          <p:cNvSpPr>
            <a:spLocks noGrp="1"/>
          </p:cNvSpPr>
          <p:nvPr/>
        </p:nvSpPr>
        <p:spPr>
          <a:xfrm>
            <a:off x="8737600" y="62153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Candidate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COUNTROWS(FILTER('Indian General Election', 'Indian General Election'[Is_Winner] = </a:t>
            </a:r>
            <a:r>
              <a:rPr lang="en-IN" altLang="en-US" sz="2000"/>
              <a:t>              T</a:t>
            </a:r>
            <a:r>
              <a:rPr lang="en-US" altLang="en-US" sz="2000"/>
              <a:t>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Highest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MAX('Indian General Election'[Votes_Secured])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 </a:t>
            </a:r>
            <a:r>
              <a:rPr lang="en-US" altLang="en-US" sz="2000"/>
              <a:t>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Candidate Rank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RANKX(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ALL('Indian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DESC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142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010" y="156210"/>
            <a:ext cx="2887345" cy="686435"/>
          </a:xfrm>
          <a:prstGeom prst="rect">
            <a:avLst/>
          </a:prstGeom>
        </p:spPr>
      </p:pic>
      <p:sp>
        <p:nvSpPr>
          <p:cNvPr id="13" name="Slide Number Placeholder 4"/>
          <p:cNvSpPr>
            <a:spLocks noGrp="1"/>
          </p:cNvSpPr>
          <p:nvPr/>
        </p:nvSpPr>
        <p:spPr>
          <a:xfrm>
            <a:off x="8737600" y="62153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Bottom 10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IF(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RANKX(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ALL('Indian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[Candidate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,        ASC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) &lt;= 10,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10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IF(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Rank] &lt;= 10,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Votes]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00583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575" y="168910"/>
            <a:ext cx="2811780" cy="6864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12065" y="13142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 </a:t>
            </a:r>
            <a:r>
              <a:rPr lang="en-IN" altLang="en-US" sz="2000"/>
              <a:t>Bottom 10 candidates by candidates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–</a:t>
            </a:r>
            <a:r>
              <a:rPr lang="en-IN" altLang="en-US" sz="2000">
                <a:sym typeface="+mn-ea"/>
              </a:rPr>
              <a:t> top 10 candidates by candidates name</a:t>
            </a:r>
            <a:endParaRPr lang="en-IN" altLang="en-US" sz="2000">
              <a:sym typeface="+mn-ea"/>
            </a:endParaRPr>
          </a:p>
          <a:p>
            <a:pPr marL="0" indent="0">
              <a:buNone/>
            </a:pPr>
            <a:r>
              <a:rPr lang="en-US" altLang="en-US" sz="2000"/>
              <a:t> Summary Table – </a:t>
            </a:r>
            <a:r>
              <a:rPr lang="en-IN" altLang="en-US" sz="2000"/>
              <a:t>candidates name,state name, constituency,party,candidates vote</a:t>
            </a:r>
            <a:r>
              <a:rPr lang="en-US" altLang="en-US" sz="2000"/>
              <a:t> Avg </a:t>
            </a:r>
            <a:r>
              <a:rPr lang="en-IN" altLang="en-US" sz="2000"/>
              <a:t>  </a:t>
            </a:r>
            <a:r>
              <a:rPr lang="en-US" altLang="en-US" sz="2000"/>
              <a:t>Winning Margin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</a:t>
            </a:r>
            <a:r>
              <a:rPr lang="en-IN" altLang="en-US" sz="2000"/>
              <a:t>candidates vote</a:t>
            </a:r>
            <a:r>
              <a:rPr lang="en-US" altLang="en-US" sz="2000"/>
              <a:t> - </a:t>
            </a:r>
            <a:r>
              <a:rPr lang="en-IN" altLang="en-US" sz="2000"/>
              <a:t>729</a:t>
            </a:r>
            <a:r>
              <a:rPr lang="en-US" altLang="en-US" sz="2000"/>
              <a:t>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Winner</a:t>
            </a:r>
            <a:r>
              <a:rPr lang="en-US" altLang="en-US" sz="2000"/>
              <a:t>- 6</a:t>
            </a:r>
            <a:r>
              <a:rPr lang="en-IN" altLang="en-US" sz="2000"/>
              <a:t>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highest vote-1M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Avg winning margi</a:t>
            </a:r>
            <a:r>
              <a:rPr lang="en-IN" altLang="en-US" sz="2000"/>
              <a:t>n - 162.19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040" y="144145"/>
            <a:ext cx="2774315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235" y="274638"/>
            <a:ext cx="10972800" cy="114300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YEAR WISE ANALYSIS :</a:t>
            </a:r>
            <a:endParaRPr lang="en-US"/>
          </a:p>
        </p:txBody>
      </p:sp>
      <p:pic>
        <p:nvPicPr>
          <p:cNvPr id="6" name="Content Placeholder 5" descr="P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0235" y="1600200"/>
            <a:ext cx="10972165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0219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045" y="168910"/>
            <a:ext cx="2861310" cy="686435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Votes Polled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</a:t>
            </a:r>
            <a:r>
              <a:rPr lang="en-US" altLang="en-US" sz="1800"/>
              <a:t>SUM('Indian General Election'[Total_Votes_Polled])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Votes Secured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SUM('Indian General Election'[Votes_Secured])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Seats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DISTINCTCOUNT('Indian General Election'[Constituency])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Winners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COUNTROWS(FILTER('Indian General Election', 'Indian General Election'[Is_Winner] = TRUE()))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Avg Winning Margin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</a:t>
            </a:r>
            <a:r>
              <a:rPr lang="en-US" altLang="en-US" sz="1800"/>
              <a:t>AVERAGE('Indian General Election'[Winning_Margin])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)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0219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24014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045" y="168910"/>
            <a:ext cx="2861310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</a:t>
            </a:r>
            <a:r>
              <a:rPr lang="en-US" altLang="en-US" sz="2000"/>
              <a:t>   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>
                <a:sym typeface="+mn-ea"/>
              </a:rPr>
              <a:t>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>
                <a:sym typeface="+mn-ea"/>
              </a:rPr>
              <a:t>     </a:t>
            </a:r>
            <a:r>
              <a:rPr lang="en-US" altLang="en-US" sz="2000">
                <a:sym typeface="+mn-ea"/>
              </a:rPr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  </a:t>
            </a:r>
            <a:r>
              <a:rPr lang="en-IN" altLang="en-US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   </a:t>
            </a:r>
            <a:r>
              <a:rPr lang="en-IN" altLang="en-US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'Indian General Election'[Is_Winner] = TRUE()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864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0070" y="106045"/>
            <a:ext cx="2586355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 Seats Won by </a:t>
            </a:r>
            <a:r>
              <a:rPr lang="en-IN" altLang="en-US" sz="2000"/>
              <a:t>year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 </a:t>
            </a:r>
            <a:r>
              <a:rPr lang="en-IN" altLang="en-US" sz="2000"/>
              <a:t>avg winning margin by year</a:t>
            </a:r>
            <a:endParaRPr lang="en-IN" altLang="en-US" sz="2000"/>
          </a:p>
          <a:p>
            <a:pPr marL="0" indent="0">
              <a:buNone/>
            </a:pPr>
            <a:r>
              <a:rPr lang="en-IN" altLang="en-US" sz="2000"/>
              <a:t>     Line chart - total vote polled by year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vote </a:t>
            </a:r>
            <a:r>
              <a:rPr lang="en-IN" altLang="en-US" sz="2000"/>
              <a:t>polles- 12bn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vote secured</a:t>
            </a:r>
            <a:r>
              <a:rPr lang="en-US" altLang="en-US" sz="2000"/>
              <a:t> - </a:t>
            </a:r>
            <a:r>
              <a:rPr lang="en-IN" altLang="en-US" sz="2000"/>
              <a:t>729M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</a:t>
            </a:r>
            <a:r>
              <a:rPr lang="en-IN" altLang="en-US" sz="2000"/>
              <a:t> winner-617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Avg winning margin </a:t>
            </a:r>
            <a:r>
              <a:rPr lang="en-IN" altLang="en-US" sz="2000"/>
              <a:t>162.19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75" y="180975"/>
            <a:ext cx="2824480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WINNING ANALYSIS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21329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720" y="118745"/>
            <a:ext cx="217360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3" name="Content Placeholder 1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695" y="1600200"/>
            <a:ext cx="11564620" cy="4526280"/>
          </a:xfrm>
          <a:prstGeom prst="rect">
            <a:avLst/>
          </a:prstGeom>
        </p:spPr>
      </p:pic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COUNTROWS(FILTER('Indian General Election', 'Indian General Election'[Is_Winner] </a:t>
            </a:r>
            <a:r>
              <a:rPr lang="en-IN" altLang="en-US" sz="2000"/>
              <a:t>     </a:t>
            </a:r>
            <a:r>
              <a:rPr lang="en-US" altLang="en-US" sz="2000"/>
              <a:t>=TRUE()))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Lowest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MIN('Indian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4888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020" y="118745"/>
            <a:ext cx="306133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Lowest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MIN('Indian General Election'[Winning_Margin])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 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State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8310" y="143510"/>
            <a:ext cx="27730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40824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850" y="106045"/>
            <a:ext cx="2724150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</a:t>
            </a:r>
            <a:r>
              <a:rPr lang="en-IN" altLang="en-US"/>
              <a:t> </a:t>
            </a:r>
            <a:r>
              <a:rPr lang="en-US" altLang="en-US"/>
              <a:t> </a:t>
            </a:r>
            <a:r>
              <a:rPr lang="en-US" altLang="en-US" sz="2000"/>
              <a:t>Bar Chart – Seats Won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</a:t>
            </a:r>
            <a:r>
              <a:rPr lang="en-US" altLang="en-US" sz="2000"/>
              <a:t>Column Chart –</a:t>
            </a:r>
            <a:r>
              <a:rPr lang="en-IN" altLang="en-US" sz="2000"/>
              <a:t>winning margin by constituency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Line</a:t>
            </a:r>
            <a:r>
              <a:rPr lang="en-US" altLang="en-US" sz="2000"/>
              <a:t> Chart –</a:t>
            </a:r>
            <a:r>
              <a:rPr lang="en-IN" altLang="en-US" sz="2000"/>
              <a:t>winner over area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</a:t>
            </a:r>
            <a:r>
              <a:rPr lang="en-US" altLang="en-US" sz="2000"/>
              <a:t>Map – Seats won by states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Total </a:t>
            </a:r>
            <a:r>
              <a:rPr lang="en-IN" altLang="en-US" sz="2000"/>
              <a:t>seat own</a:t>
            </a:r>
            <a:r>
              <a:rPr lang="en-US" altLang="en-US" sz="2000"/>
              <a:t>- </a:t>
            </a:r>
            <a:r>
              <a:rPr lang="en-IN" altLang="en-US" sz="2000"/>
              <a:t>388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Total </a:t>
            </a:r>
            <a:r>
              <a:rPr lang="en-IN" altLang="en-US" sz="2000"/>
              <a:t>winner</a:t>
            </a:r>
            <a:r>
              <a:rPr lang="en-US" altLang="en-US" sz="2000"/>
              <a:t> - 6</a:t>
            </a:r>
            <a:r>
              <a:rPr lang="en-IN" altLang="en-US" sz="2000"/>
              <a:t>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Lowest winning margin-48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Avg winning margin 135.63K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4793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4150" y="118745"/>
            <a:ext cx="303720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STATW WISE MAP ANALYSIS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650" y="1600200"/>
            <a:ext cx="11367135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735" y="93980"/>
            <a:ext cx="2674620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IN" altLang="en-US" sz="2000"/>
              <a:t> </a:t>
            </a:r>
            <a:r>
              <a:rPr lang="en-US" altLang="en-US" sz="2000"/>
              <a:t>Total Votes Secured =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000"/>
              <a:t> 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IN" altLang="en-US" sz="2000"/>
              <a:t> </a:t>
            </a:r>
            <a:r>
              <a:rPr lang="en-US" altLang="en-US" sz="2000"/>
              <a:t>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Election'[Pct_of_Valid])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1830" y="156210"/>
            <a:ext cx="254952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/>
              <a:t></a:t>
            </a:r>
            <a:r>
              <a:rPr lang="en-US" altLang="en-US" sz="2000"/>
              <a:t> </a:t>
            </a:r>
            <a:r>
              <a:rPr lang="en-IN" altLang="en-US" sz="2000"/>
              <a:t> </a:t>
            </a:r>
            <a:r>
              <a:rPr lang="en-US" altLang="en-US" sz="2000"/>
              <a:t>Bar Chart – Seats Won by </a:t>
            </a:r>
            <a:r>
              <a:rPr lang="en-IN" altLang="en-US" sz="2000"/>
              <a:t>State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</a:t>
            </a:r>
            <a:r>
              <a:rPr lang="en-US" altLang="en-US" sz="2000"/>
              <a:t>Column Chart –Vot</a:t>
            </a:r>
            <a:r>
              <a:rPr lang="en-IN" altLang="en-US" sz="2000"/>
              <a:t>er turner%</a:t>
            </a:r>
            <a:r>
              <a:rPr lang="en-US" altLang="en-US" sz="2000"/>
              <a:t> by Party</a:t>
            </a:r>
            <a:r>
              <a:rPr lang="en-IN" altLang="en-US" sz="2000"/>
              <a:t> State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Map</a:t>
            </a:r>
            <a:r>
              <a:rPr lang="en-US" altLang="en-US" sz="2000"/>
              <a:t> –</a:t>
            </a:r>
            <a:r>
              <a:rPr lang="en-US" altLang="en-US" sz="2000">
                <a:sym typeface="+mn-ea"/>
              </a:rPr>
              <a:t>Seats Won</a:t>
            </a:r>
            <a:r>
              <a:rPr lang="en-IN" altLang="en-US" sz="2000">
                <a:sym typeface="+mn-ea"/>
              </a:rPr>
              <a:t>,Total vote secured,winning margin,voter turnover%</a:t>
            </a:r>
            <a:endParaRPr lang="en-IN" altLang="en-US" sz="2000"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7345" y="181610"/>
            <a:ext cx="2874010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DEMOGRAPHIC ANALYSIS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1485" y="1630045"/>
            <a:ext cx="11277600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635" y="149860"/>
            <a:ext cx="2712720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3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Total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DISTINCTCOUNT('Indian General Election'[Candidate Name])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COUNTROWS(FILTER('Indian General Election', 'Indian General Election'[Is_Winner] </a:t>
            </a:r>
            <a:r>
              <a:rPr lang="en-IN" altLang="en-US" sz="2000"/>
              <a:t>   </a:t>
            </a:r>
            <a:r>
              <a:rPr lang="en-US" altLang="en-US" sz="2000"/>
              <a:t>=TRUE()))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Winner Age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AVERAGE('Indian General Election'[Age]),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110" y="194310"/>
            <a:ext cx="28492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Winners by Gender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Winners by Category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Winner Age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AVERAGE('Indian General Election'[Age]),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505" y="180975"/>
            <a:ext cx="2736850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Winners Over Years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305" y="168910"/>
            <a:ext cx="2686050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</a:t>
            </a:r>
            <a:r>
              <a:rPr lang="en-IN" altLang="en-US" sz="2000"/>
              <a:t>Winner by catagory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</a:t>
            </a:r>
            <a:r>
              <a:rPr lang="en-US" altLang="en-US" sz="2000">
                <a:sym typeface="+mn-ea"/>
              </a:rPr>
              <a:t> </a:t>
            </a:r>
            <a:r>
              <a:rPr lang="en-IN" altLang="en-US" sz="2000">
                <a:sym typeface="+mn-ea"/>
              </a:rPr>
              <a:t>Winner by catagory by year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Donut Chart – candidate by gender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winner</a:t>
            </a:r>
            <a:r>
              <a:rPr lang="en-US" altLang="en-US" sz="2000"/>
              <a:t>- </a:t>
            </a:r>
            <a:r>
              <a:rPr lang="en-IN" altLang="en-US" sz="2000"/>
              <a:t>617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candidates - </a:t>
            </a:r>
            <a:r>
              <a:rPr lang="en-IN" altLang="en-US" sz="2000"/>
              <a:t>10k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</a:t>
            </a:r>
            <a:r>
              <a:rPr lang="en-IN" altLang="en-US" sz="2000"/>
              <a:t>  Avg winning age-46.91</a:t>
            </a:r>
            <a:endParaRPr lang="en-IN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505" y="156210"/>
            <a:ext cx="2736850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FUTURE SCOPE: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Sentiment Analysis Integration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Link social media sentiment patterns with election data for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comprehensive public opinion tracking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Mobile Dashboards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Develop responsive, touch-optimized interfaces for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seamless mobile access and engagemen</a:t>
            </a:r>
            <a:r>
              <a:rPr lang="en-IN" altLang="en-US" sz="2000"/>
              <a:t>t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Local Elections Expansion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Extend coverage to municipal elections, school boards,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and local referenda for comprehensive civic data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25/12/2025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2452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0" y="143510"/>
            <a:ext cx="3024505" cy="686435"/>
          </a:xfrm>
          <a:prstGeom prst="rect">
            <a:avLst/>
          </a:prstGeom>
        </p:spPr>
      </p:pic>
      <p:sp>
        <p:nvSpPr>
          <p:cNvPr id="6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000" y="2820516"/>
            <a:ext cx="9617765" cy="837510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</a:br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Any Queries ?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25/12/2025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270110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ubtitle 2"/>
          <p:cNvSpPr txBox="1"/>
          <p:nvPr/>
        </p:nvSpPr>
        <p:spPr>
          <a:xfrm>
            <a:off x="4377055" y="4278630"/>
            <a:ext cx="3809365" cy="22796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2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Presented By</a:t>
            </a:r>
            <a:endParaRPr lang="en-IN" sz="12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SUJIT BEHERA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NAGA VENKATA VASAVI JAYAVARAPU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A ARCHNA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DARSHAN SINDHE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YAMINI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Team - A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INFOSYS SPRINGBOARD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7520" y="1425575"/>
            <a:ext cx="1097216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/>
              <a:t>                 </a:t>
            </a:r>
            <a:r>
              <a:rPr lang="en-IN" altLang="en-US" sz="2400"/>
              <a:t> </a:t>
            </a:r>
            <a:r>
              <a:rPr lang="en-US" altLang="en-US" sz="3200" b="1"/>
              <a:t>ElectViz Election Data Visualization for Media</a:t>
            </a:r>
            <a:endParaRPr lang="en-US" altLang="en-US" sz="3200" b="1"/>
          </a:p>
          <a:p>
            <a:endParaRPr lang="en-US" altLang="en-US" sz="2400" b="1"/>
          </a:p>
          <a:p>
            <a:r>
              <a:rPr lang="en-IN" altLang="en-US"/>
              <a:t>                                </a:t>
            </a:r>
            <a:r>
              <a:rPr lang="en-IN" altLang="en-US" b="1"/>
              <a:t>                                 </a:t>
            </a:r>
            <a:r>
              <a:rPr lang="en-US" altLang="en-US" b="1"/>
              <a:t>Infosys Springboard 6.0</a:t>
            </a:r>
            <a:endParaRPr lang="en-US" b="1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445" y="556895"/>
            <a:ext cx="2835910" cy="686435"/>
          </a:xfrm>
          <a:prstGeom prst="rect">
            <a:avLst/>
          </a:prstGeom>
        </p:spPr>
      </p:pic>
      <p:sp>
        <p:nvSpPr>
          <p:cNvPr id="4" name="Date Placeholder 6"/>
          <p:cNvSpPr>
            <a:spLocks noGrp="1"/>
          </p:cNvSpPr>
          <p:nvPr/>
        </p:nvSpPr>
        <p:spPr>
          <a:xfrm>
            <a:off x="609600" y="6245225"/>
            <a:ext cx="2844800" cy="6127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3/01/2026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60950" y="295148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4000">
                <a:solidFill>
                  <a:schemeClr val="accent1">
                    <a:lumMod val="50000"/>
                  </a:schemeClr>
                </a:solidFill>
                <a:latin typeface="Gabriola" panose="04040605051002020D02" charset="0"/>
                <a:cs typeface="Gabriola" panose="04040605051002020D02" charset="0"/>
              </a:rPr>
              <a:t>THANK YOU</a:t>
            </a:r>
            <a:endParaRPr lang="en-IN" altLang="en-US" sz="4000">
              <a:solidFill>
                <a:schemeClr val="accent1">
                  <a:lumMod val="50000"/>
                </a:schemeClr>
              </a:solidFill>
              <a:latin typeface="Gabriola" panose="04040605051002020D02" charset="0"/>
              <a:cs typeface="Gabriola" panose="04040605051002020D0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10868</Words>
  <Application>WPS Presentation</Application>
  <PresentationFormat>Widescreen</PresentationFormat>
  <Paragraphs>810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Arial</vt:lpstr>
      <vt:lpstr>SimSun</vt:lpstr>
      <vt:lpstr>Wingdings</vt:lpstr>
      <vt:lpstr>Tw Cen MT</vt:lpstr>
      <vt:lpstr>Segoe UI</vt:lpstr>
      <vt:lpstr>Segoe Print</vt:lpstr>
      <vt:lpstr>Wingdings</vt:lpstr>
      <vt:lpstr>Comic Sans MS</vt:lpstr>
      <vt:lpstr>Microsoft YaHei</vt:lpstr>
      <vt:lpstr>Arial Unicode MS</vt:lpstr>
      <vt:lpstr>Calibri</vt:lpstr>
      <vt:lpstr>Gabriola</vt:lpstr>
      <vt:lpstr>Business Cooperate</vt:lpstr>
      <vt:lpstr>  </vt:lpstr>
      <vt:lpstr>OVER VIEW :</vt:lpstr>
      <vt:lpstr>DATA SOURCE:</vt:lpstr>
      <vt:lpstr>DATA SOURCE</vt:lpstr>
      <vt:lpstr>VISUALIZATION:  </vt:lpstr>
      <vt:lpstr>DAX MEASUREMENT:</vt:lpstr>
      <vt:lpstr>VISUALIZATION TOOL :</vt:lpstr>
      <vt:lpstr>STATE WISE ANALYSIS :</vt:lpstr>
      <vt:lpstr>DAX MEASUREMENT</vt:lpstr>
      <vt:lpstr>VISUALIZATION TOOL :</vt:lpstr>
      <vt:lpstr>PARTY PERFORMANCE :</vt:lpstr>
      <vt:lpstr>DAX MEASUREMENT: </vt:lpstr>
      <vt:lpstr>DAX MEASUREMENT: </vt:lpstr>
      <vt:lpstr>VISUALIZATION TOOL :</vt:lpstr>
      <vt:lpstr>CANDIDATES PERFORMANCE</vt:lpstr>
      <vt:lpstr>DAX MEASUREMENT:</vt:lpstr>
      <vt:lpstr>DAX MEASUREMENT: </vt:lpstr>
      <vt:lpstr>VISUALIZATION TOOL :</vt:lpstr>
      <vt:lpstr>YEAR WISE ANALYSIS :</vt:lpstr>
      <vt:lpstr>DAX MEASUREMENT:</vt:lpstr>
      <vt:lpstr>DAX MEASUREMENT:</vt:lpstr>
      <vt:lpstr>VISUALIZATION TOOL :</vt:lpstr>
      <vt:lpstr>WINNING ANALYSIS</vt:lpstr>
      <vt:lpstr>DAX MEASUREMENT</vt:lpstr>
      <vt:lpstr>DAX MEASUREMENT</vt:lpstr>
      <vt:lpstr>DAX MEASUREMENT</vt:lpstr>
      <vt:lpstr>VISUALIZATION TOOL</vt:lpstr>
      <vt:lpstr>STATW WISE MAP ANALYSIS</vt:lpstr>
      <vt:lpstr>DAX MEASUREMENT</vt:lpstr>
      <vt:lpstr>VISUALIZATION TOOL</vt:lpstr>
      <vt:lpstr>DEMOGRAPHIC ANALYSIS</vt:lpstr>
      <vt:lpstr>DAX MEASUREMENT</vt:lpstr>
      <vt:lpstr>DAX MEASUREMENT</vt:lpstr>
      <vt:lpstr>DAX MEASUREMENT</vt:lpstr>
      <vt:lpstr>VISUALIZATION TOOL</vt:lpstr>
      <vt:lpstr>FUTURE SCOPE:</vt:lpstr>
      <vt:lpstr>  Any Queries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CRITERIA - 4</dc:title>
  <dc:creator>Abanikanta Pattanayak</dc:creator>
  <cp:lastModifiedBy>Sujit Behera</cp:lastModifiedBy>
  <cp:revision>75</cp:revision>
  <dcterms:created xsi:type="dcterms:W3CDTF">2024-09-25T06:48:00Z</dcterms:created>
  <dcterms:modified xsi:type="dcterms:W3CDTF">2026-01-06T17:44:49Z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CBF04673840C4B73ADFAD79A6B613DB5_13</vt:lpwstr>
  </property>
  <property fmtid="{D5CDD505-2E9C-101B-9397-08002B2CF9AE}" pid="3" name="KSOProductBuildVer">
    <vt:lpwstr>1033-12.2.0.23196</vt:lpwstr>
  </property>
</Properties>
</file>